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tha reddy" userId="b6fb35fbc033da94" providerId="LiveId" clId="{34ED7555-B0F6-436B-A0D9-87E1B62A32CD}"/>
    <pc:docChg chg="undo custSel modSld">
      <pc:chgData name="akshitha reddy" userId="b6fb35fbc033da94" providerId="LiveId" clId="{34ED7555-B0F6-436B-A0D9-87E1B62A32CD}" dt="2026-09-16T04:39:02.778" v="375" actId="1036"/>
      <pc:docMkLst>
        <pc:docMk/>
      </pc:docMkLst>
      <pc:sldChg chg="modSp mod">
        <pc:chgData name="akshitha reddy" userId="b6fb35fbc033da94" providerId="LiveId" clId="{34ED7555-B0F6-436B-A0D9-87E1B62A32CD}" dt="2026-09-16T04:39:02.778" v="375" actId="1036"/>
        <pc:sldMkLst>
          <pc:docMk/>
          <pc:sldMk cId="2065876014" sldId="258"/>
        </pc:sldMkLst>
        <pc:picChg chg="mod">
          <ac:chgData name="akshitha reddy" userId="b6fb35fbc033da94" providerId="LiveId" clId="{34ED7555-B0F6-436B-A0D9-87E1B62A32CD}" dt="2026-09-16T04:39:02.778" v="375" actId="1036"/>
          <ac:picMkLst>
            <pc:docMk/>
            <pc:sldMk cId="2065876014" sldId="258"/>
            <ac:picMk id="3" creationId="{7777B92A-0C12-D39A-8847-98719E7B6FFF}"/>
          </ac:picMkLst>
        </pc:picChg>
      </pc:sldChg>
      <pc:sldChg chg="modSp mod">
        <pc:chgData name="akshitha reddy" userId="b6fb35fbc033da94" providerId="LiveId" clId="{34ED7555-B0F6-436B-A0D9-87E1B62A32CD}" dt="2026-09-11T03:43:07.988" v="151" actId="27636"/>
        <pc:sldMkLst>
          <pc:docMk/>
          <pc:sldMk cId="4118855268" sldId="260"/>
        </pc:sldMkLst>
        <pc:spChg chg="mod">
          <ac:chgData name="akshitha reddy" userId="b6fb35fbc033da94" providerId="LiveId" clId="{34ED7555-B0F6-436B-A0D9-87E1B62A32CD}" dt="2026-09-11T03:43:07.988" v="151" actId="27636"/>
          <ac:spMkLst>
            <pc:docMk/>
            <pc:sldMk cId="4118855268" sldId="260"/>
            <ac:spMk id="51" creationId="{00000000-0000-0000-0000-000000000000}"/>
          </ac:spMkLst>
        </pc:spChg>
      </pc:sldChg>
      <pc:sldChg chg="modSp mod">
        <pc:chgData name="akshitha reddy" userId="b6fb35fbc033da94" providerId="LiveId" clId="{34ED7555-B0F6-436B-A0D9-87E1B62A32CD}" dt="2026-09-11T03:36:16.159" v="21" actId="20577"/>
        <pc:sldMkLst>
          <pc:docMk/>
          <pc:sldMk cId="2247602601" sldId="262"/>
        </pc:sldMkLst>
        <pc:graphicFrameChg chg="modGraphic">
          <ac:chgData name="akshitha reddy" userId="b6fb35fbc033da94" providerId="LiveId" clId="{34ED7555-B0F6-436B-A0D9-87E1B62A32CD}" dt="2026-09-11T03:36:16.159" v="21" actId="20577"/>
          <ac:graphicFrameMkLst>
            <pc:docMk/>
            <pc:sldMk cId="2247602601" sldId="262"/>
            <ac:graphicFrameMk id="30" creationId="{9091FADF-77DB-CB1D-CD72-56C53CF76308}"/>
          </ac:graphicFrameMkLst>
        </pc:graphicFrameChg>
      </pc:sldChg>
      <pc:sldChg chg="addSp delSp modSp mod">
        <pc:chgData name="akshitha reddy" userId="b6fb35fbc033da94" providerId="LiveId" clId="{34ED7555-B0F6-436B-A0D9-87E1B62A32CD}" dt="2026-09-11T03:51:42.861" v="369" actId="207"/>
        <pc:sldMkLst>
          <pc:docMk/>
          <pc:sldMk cId="2747969496" sldId="707"/>
        </pc:sldMkLst>
        <pc:spChg chg="add mod">
          <ac:chgData name="akshitha reddy" userId="b6fb35fbc033da94" providerId="LiveId" clId="{34ED7555-B0F6-436B-A0D9-87E1B62A32CD}" dt="2026-09-11T03:47:41.422" v="206" actId="207"/>
          <ac:spMkLst>
            <pc:docMk/>
            <pc:sldMk cId="2747969496" sldId="707"/>
            <ac:spMk id="3" creationId="{CDF512DD-EAD0-109A-D2F9-C2CB41C4D76D}"/>
          </ac:spMkLst>
        </pc:spChg>
        <pc:spChg chg="add del mod">
          <ac:chgData name="akshitha reddy" userId="b6fb35fbc033da94" providerId="LiveId" clId="{34ED7555-B0F6-436B-A0D9-87E1B62A32CD}" dt="2026-09-11T03:49:29.984" v="284" actId="47"/>
          <ac:spMkLst>
            <pc:docMk/>
            <pc:sldMk cId="2747969496" sldId="707"/>
            <ac:spMk id="6" creationId="{3F034F81-B17B-2FF4-B3F1-53BD1F513199}"/>
          </ac:spMkLst>
        </pc:spChg>
        <pc:spChg chg="add del mod">
          <ac:chgData name="akshitha reddy" userId="b6fb35fbc033da94" providerId="LiveId" clId="{34ED7555-B0F6-436B-A0D9-87E1B62A32CD}" dt="2026-09-11T03:49:28.550" v="283" actId="47"/>
          <ac:spMkLst>
            <pc:docMk/>
            <pc:sldMk cId="2747969496" sldId="707"/>
            <ac:spMk id="12" creationId="{297E504A-DA9C-06C3-A059-D45638C18864}"/>
          </ac:spMkLst>
        </pc:spChg>
        <pc:spChg chg="mod">
          <ac:chgData name="akshitha reddy" userId="b6fb35fbc033da94" providerId="LiveId" clId="{34ED7555-B0F6-436B-A0D9-87E1B62A32CD}" dt="2026-09-11T03:51:25.018" v="365"/>
          <ac:spMkLst>
            <pc:docMk/>
            <pc:sldMk cId="2747969496" sldId="707"/>
            <ac:spMk id="14" creationId="{576F380C-3238-E430-3C22-3C23884CE532}"/>
          </ac:spMkLst>
        </pc:spChg>
        <pc:spChg chg="add del mod">
          <ac:chgData name="akshitha reddy" userId="b6fb35fbc033da94" providerId="LiveId" clId="{34ED7555-B0F6-436B-A0D9-87E1B62A32CD}" dt="2026-09-11T03:51:25.018" v="365"/>
          <ac:spMkLst>
            <pc:docMk/>
            <pc:sldMk cId="2747969496" sldId="707"/>
            <ac:spMk id="16" creationId="{C0A4CA55-824E-91B2-D5F9-032778D4B8B3}"/>
          </ac:spMkLst>
        </pc:spChg>
        <pc:spChg chg="mod">
          <ac:chgData name="akshitha reddy" userId="b6fb35fbc033da94" providerId="LiveId" clId="{34ED7555-B0F6-436B-A0D9-87E1B62A32CD}" dt="2026-09-11T03:51:25.018" v="365"/>
          <ac:spMkLst>
            <pc:docMk/>
            <pc:sldMk cId="2747969496" sldId="707"/>
            <ac:spMk id="18" creationId="{EE7E17B2-5AF8-C463-91C3-5B87FC773369}"/>
          </ac:spMkLst>
        </pc:spChg>
        <pc:spChg chg="mod">
          <ac:chgData name="akshitha reddy" userId="b6fb35fbc033da94" providerId="LiveId" clId="{34ED7555-B0F6-436B-A0D9-87E1B62A32CD}" dt="2026-09-11T03:51:25.018" v="365"/>
          <ac:spMkLst>
            <pc:docMk/>
            <pc:sldMk cId="2747969496" sldId="707"/>
            <ac:spMk id="20" creationId="{6D160BA9-A291-1BA5-C03E-7218C2169C28}"/>
          </ac:spMkLst>
        </pc:spChg>
        <pc:spChg chg="add del mod">
          <ac:chgData name="akshitha reddy" userId="b6fb35fbc033da94" providerId="LiveId" clId="{34ED7555-B0F6-436B-A0D9-87E1B62A32CD}" dt="2026-09-11T03:51:25.018" v="365"/>
          <ac:spMkLst>
            <pc:docMk/>
            <pc:sldMk cId="2747969496" sldId="707"/>
            <ac:spMk id="22" creationId="{6C792DA3-F484-948A-E346-F158FE24CE3F}"/>
          </ac:spMkLst>
        </pc:spChg>
        <pc:spChg chg="add del mod">
          <ac:chgData name="akshitha reddy" userId="b6fb35fbc033da94" providerId="LiveId" clId="{34ED7555-B0F6-436B-A0D9-87E1B62A32CD}" dt="2026-09-11T03:51:42.861" v="369" actId="207"/>
          <ac:spMkLst>
            <pc:docMk/>
            <pc:sldMk cId="2747969496" sldId="707"/>
            <ac:spMk id="24" creationId="{957E2443-43F4-3FA3-6C83-796D6B456220}"/>
          </ac:spMkLst>
        </pc:spChg>
        <pc:spChg chg="mod">
          <ac:chgData name="akshitha reddy" userId="b6fb35fbc033da94" providerId="LiveId" clId="{34ED7555-B0F6-436B-A0D9-87E1B62A32CD}" dt="2026-09-11T03:51:25.018" v="365"/>
          <ac:spMkLst>
            <pc:docMk/>
            <pc:sldMk cId="2747969496" sldId="707"/>
            <ac:spMk id="28" creationId="{F1211E34-5F1E-9B5C-4C59-2549F412DCD1}"/>
          </ac:spMkLst>
        </pc:spChg>
        <pc:spChg chg="mod">
          <ac:chgData name="akshitha reddy" userId="b6fb35fbc033da94" providerId="LiveId" clId="{34ED7555-B0F6-436B-A0D9-87E1B62A32CD}" dt="2026-09-11T03:51:25.018" v="365"/>
          <ac:spMkLst>
            <pc:docMk/>
            <pc:sldMk cId="2747969496" sldId="707"/>
            <ac:spMk id="31" creationId="{4D713724-2EA7-CA04-47B9-F63B3DAC496D}"/>
          </ac:spMkLst>
        </pc:spChg>
        <pc:picChg chg="mod">
          <ac:chgData name="akshitha reddy" userId="b6fb35fbc033da94" providerId="LiveId" clId="{34ED7555-B0F6-436B-A0D9-87E1B62A32CD}" dt="2026-09-11T03:51:25.018" v="365"/>
          <ac:picMkLst>
            <pc:docMk/>
            <pc:sldMk cId="2747969496" sldId="707"/>
            <ac:picMk id="36" creationId="{55B3B570-3194-94D5-869B-2F3E3E133BAF}"/>
          </ac:picMkLst>
        </pc:picChg>
        <pc:picChg chg="mod">
          <ac:chgData name="akshitha reddy" userId="b6fb35fbc033da94" providerId="LiveId" clId="{34ED7555-B0F6-436B-A0D9-87E1B62A32CD}" dt="2026-09-11T03:51:25.018" v="365"/>
          <ac:picMkLst>
            <pc:docMk/>
            <pc:sldMk cId="2747969496" sldId="707"/>
            <ac:picMk id="40" creationId="{F1D91F2F-C2FB-3146-467B-21A20C8410D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V. Preetham Nikhil (2420030302)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 Rishikesh Reddy (2420030318)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 Sriram Madhav (2420030273)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69965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Sunanda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Project Guide,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 University, Hyderabad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of Tweets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Review-2</a:t>
            </a:r>
          </a:p>
          <a:p>
            <a:pPr lvl="0" algn="ctr">
              <a:defRPr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11-09-2025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10788" y="1377996"/>
            <a:ext cx="6775005" cy="4195705"/>
            <a:chOff x="1939070" y="1656655"/>
            <a:chExt cx="6775005" cy="419570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8064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87313" lvl="0" defTabSz="457200">
                <a:buSzPts val="2520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4)</a:t>
              </a:r>
              <a:r>
                <a:rPr lang="en-IN" sz="2000" dirty="0"/>
                <a:t> </a:t>
              </a:r>
              <a:r>
                <a:rPr lang="en-IN" sz="2000" dirty="0">
                  <a:solidFill>
                    <a:schemeClr val="bg1"/>
                  </a:solidFill>
                </a:rPr>
                <a:t>Model Building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87313" marR="0" lvl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87313" marR="0" lvl="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6Model Evaluation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87313" marR="0" lvl="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7)Result Visualization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3693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87313" lvl="0" defTabSz="457200">
                <a:spcBef>
                  <a:spcPts val="504"/>
                </a:spcBef>
                <a:buSzPts val="2520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8)</a:t>
              </a:r>
              <a:r>
                <a:rPr lang="en-IN" dirty="0"/>
                <a:t> </a:t>
              </a:r>
              <a:r>
                <a:rPr lang="en-IN" dirty="0">
                  <a:solidFill>
                    <a:schemeClr val="bg1"/>
                  </a:solidFill>
                </a:rPr>
                <a:t>Analysis &amp; Future Enhancement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39070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lvl="0" indent="0">
                <a:spcBef>
                  <a:spcPts val="0"/>
                </a:spcBef>
                <a:buSzPts val="2520"/>
                <a:buNone/>
                <a:tabLst>
                  <a:tab pos="444500" algn="l"/>
                </a:tabLst>
                <a:defRPr/>
              </a:pPr>
              <a:r>
                <a:rPr lang="en-IN" sz="2000" dirty="0">
                  <a:solidFill>
                    <a:schemeClr val="bg1"/>
                  </a:solidFill>
                </a:rPr>
                <a:t>1)Data Collection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7"/>
              <a:ext cx="3812409" cy="48995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lvl="0" indent="0">
                <a:spcBef>
                  <a:spcPts val="0"/>
                </a:spcBef>
                <a:buSzPts val="2520"/>
                <a:buNone/>
                <a:tabLst>
                  <a:tab pos="444500" algn="l"/>
                </a:tabLst>
                <a:defRPr/>
              </a:pPr>
              <a:r>
                <a:rPr lang="en-IN" sz="2000" b="1" dirty="0">
                  <a:solidFill>
                    <a:schemeClr val="bg1"/>
                  </a:solidFill>
                </a:rPr>
                <a:t>2)Data Preprocessing</a:t>
              </a:r>
              <a:r>
                <a:rPr lang="en-IN" sz="2000" dirty="0">
                  <a:solidFill>
                    <a:schemeClr val="bg1"/>
                  </a:solidFill>
                </a:rPr>
                <a:t> 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46339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87313" lvl="0" defTabSz="457200">
                <a:buSzPts val="2520"/>
                <a:tabLst>
                  <a:tab pos="444500" algn="l"/>
                </a:tabLst>
                <a:defRPr/>
              </a:pPr>
              <a:r>
                <a:rPr lang="en-IN" sz="2400" dirty="0">
                  <a:solidFill>
                    <a:schemeClr val="bg1"/>
                  </a:solidFill>
                </a:rPr>
                <a:t>3)Feature Extraction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F512DD-EAD0-109A-D2F9-C2CB41C4D76D}"/>
              </a:ext>
            </a:extLst>
          </p:cNvPr>
          <p:cNvSpPr txBox="1"/>
          <p:nvPr/>
        </p:nvSpPr>
        <p:spPr>
          <a:xfrm>
            <a:off x="3046714" y="364600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5)Sentiment</a:t>
            </a:r>
            <a:r>
              <a:rPr lang="en-IN" b="1" dirty="0"/>
              <a:t> </a:t>
            </a:r>
            <a:r>
              <a:rPr lang="en-IN" b="1" dirty="0">
                <a:solidFill>
                  <a:schemeClr val="bg1"/>
                </a:solidFill>
              </a:rPr>
              <a:t>Classification</a:t>
            </a:r>
            <a:r>
              <a:rPr lang="en-IN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34F81-B17B-2FF4-B3F1-53BD1F513199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7E504A-DA9C-06C3-A059-D45638C18864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sp>
        <p:nvSpPr>
          <p:cNvPr id="50" name="Content Placeholder"/>
          <p:cNvSpPr txBox="1"/>
          <p:nvPr/>
        </p:nvSpPr>
        <p:spPr>
          <a:xfrm>
            <a:off x="685800" y="1350000"/>
            <a:ext cx="10820400" cy="5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Twitter generates hundreds of thousands of tweets within hours of a trending event, making manual sentiment analysis impractical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Tweets are short and informal, filled with abbreviations, slang, hashtags, emojis, mentions, and URLs that standard text-processing techniques were not built to handle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Organizations need an automated way to classify public opinion on a topic as positive, negative, or neutral, and to present it as an interpretable summary rather than raw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sp>
        <p:nvSpPr>
          <p:cNvPr id="50" name="Content Placeholder"/>
          <p:cNvSpPr txBox="1"/>
          <p:nvPr/>
        </p:nvSpPr>
        <p:spPr>
          <a:xfrm>
            <a:off x="685800" y="1350000"/>
            <a:ext cx="10820400" cy="5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US" sz="2400" dirty="0"/>
              <a:t>1)</a:t>
            </a:r>
            <a:r>
              <a:rPr lang="en-US" sz="2400" dirty="0" err="1"/>
              <a:t>ToCollect</a:t>
            </a:r>
            <a:r>
              <a:rPr lang="en-US" sz="2400" dirty="0"/>
              <a:t> tweets on a chosen trending topic via the Twitter API or an existing labeled dataset</a:t>
            </a:r>
          </a:p>
          <a:p>
            <a:r>
              <a:rPr lang="en-US" sz="2400" dirty="0"/>
              <a:t>2)To Preprocess tweets: tokenization, lowercasing, stop-word removal, stemming/lemmatization, and handling of hashtags, mentions, emojis, and URLs</a:t>
            </a:r>
          </a:p>
          <a:p>
            <a:r>
              <a:rPr lang="en-US" sz="2400" dirty="0"/>
              <a:t>3)To Extract numerical features using Bag-of-Words, TF-IDF, and word embeddings</a:t>
            </a:r>
          </a:p>
          <a:p>
            <a:r>
              <a:rPr lang="en-US" sz="2400" dirty="0"/>
              <a:t>4)To Classify tweets as positive, negative, or neutral using traditional ML models (Naive Bayes, SVM, Logistic Regression) and deep learning models (LSTM, BERT)</a:t>
            </a:r>
          </a:p>
          <a:p>
            <a:r>
              <a:rPr lang="en-US" sz="2400" dirty="0"/>
              <a:t>5)To Compare all models on accuracy, precision, recall, and F1-score</a:t>
            </a:r>
          </a:p>
          <a:p>
            <a:r>
              <a:rPr lang="en-US" sz="2400" dirty="0"/>
              <a:t>6)To Visualize aggregated sentiment using pie charts, bar graphs, trend lines, and word clouds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4517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A. Go, R. Bhayani, and L. Huang 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Twitter Sentiment Classification using Distant Supervision, Stanford University Tech. Report, 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Distant supervision using emoticons as noisy labels; Naive Bayes, SVM, and Maximum Entropy classifiers trained on n-gram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Showed noisy labels from emoticons can train usable sentiment classifiers without manual annotation, reaching around 80% 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Relies on tweets containing emoticons; noisy labels limit precision and the approach does not handle neutral sentiment well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C. Hutto and E. Gilbert 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VADER: A Parsimonious Rule-Based Model for Sentiment Analysis of Social Media Text, AAAI ICWSM, 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Lexicon- and rule-based scoring calibrated for social media text, with heuristics for intensifiers, negation, punctuation, and emojis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Outperformed several trained ML classifiers on social media text without needing labeled training data, while remaining fast and interpretable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Struggles with sarcasm and domain-specific slang outside its lexicon, and cannot learn from new data the way supervised models 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J. Devlin, M. Chang, K. Lee, and K. Toutanova 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BERT: Pre-training of Deep Bidirectional Transformers for Language Understanding, NAACL-HLT,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Transformer-based bidirectional pretraining with masked language modeling, fine-tuned per downstream task including sentiment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Learns deep contextual word representations that improve handling of ambiguous, context-dependent sentiment; achieves state-of-the-art results on multiple NLP 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Computationally expensive to pretrain and fine-tune; needs larger datasets and GPU resources than traditional ML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sp>
        <p:nvSpPr>
          <p:cNvPr id="50" name="Content Placeholder"/>
          <p:cNvSpPr txBox="1"/>
          <p:nvPr/>
        </p:nvSpPr>
        <p:spPr>
          <a:xfrm>
            <a:off x="685800" y="1950000"/>
            <a:ext cx="10820400" cy="4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Lexicon-based methods (e.g., VADER, SentiWordNet) need no training data but struggle with context, sarcasm, and domain-specific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Traditional ML classifiers (Naive Bayes, SVM, Logistic Regression) depend heavily on labeled data quality and cannot capture word order or long-range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Deep learning models (LSTM, BERT) handle context better, but are rarely evaluated side-by-side with traditional models in one tweet-specific 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Most existing systems stop at classification and do not translate results into visual summaries that non-technical stakeholders can act 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88" y="18854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sp>
        <p:nvSpPr>
          <p:cNvPr id="50" name="Content Placeholder"/>
          <p:cNvSpPr txBox="1"/>
          <p:nvPr/>
        </p:nvSpPr>
        <p:spPr>
          <a:xfrm>
            <a:off x="685800" y="1950000"/>
            <a:ext cx="10820400" cy="4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Combines a tweet-specific preprocessing pipeline (hashtags, mentions, emojis, URLs) with a head-to-head comparison of traditional ML and deep learning classifiers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Modular pipeline design lets the classification model (e.g., Logistic Regression → BERT) be swapped without changing the rest of the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Aggregates sentiment through pie charts, bar graphs, sentiment trend lines, and word clouds, making results interpretable for non-technical users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Applicable across domains: brand monitoring, political analysis, market research, customer feedback analysis, and crisis response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Feasibility</a:t>
            </a:r>
          </a:p>
        </p:txBody>
      </p:sp>
      <p:sp>
        <p:nvSpPr>
          <p:cNvPr id="51" name="Feasibility Bullets"/>
          <p:cNvSpPr txBox="1"/>
          <p:nvPr/>
        </p:nvSpPr>
        <p:spPr>
          <a:xfrm>
            <a:off x="1381398" y="2160000"/>
            <a:ext cx="10116039" cy="1300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Built on publicly available Twitter data/APIs and established open-source NLP and ML libraries (scikit-learn, NLTK, Hugging Face Transformers)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Traditional ML models are lightweight and trainable on standard hardware; LSTM/BERT fine-tuning is feasible with available GPU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Modular pipeline keeps development, testing, and model swapping manageable within the project timeline</a:t>
            </a:r>
          </a:p>
        </p:txBody>
      </p:sp>
      <p:graphicFrame>
        <p:nvGraphicFramePr>
          <p:cNvPr id="52" name="Timeline Table"/>
          <p:cNvGraphicFramePr>
            <a:graphicFrameLocks noGrp="1"/>
          </p:cNvGraphicFramePr>
          <p:nvPr/>
        </p:nvGraphicFramePr>
        <p:xfrm>
          <a:off x="1381398" y="3550000"/>
          <a:ext cx="10116039" cy="26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6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45720" marR="45720" marT="22860" marB="2286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marL="45720" marR="45720" marT="22860" marB="2286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1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Data Collection — gather tweets on the chosen topic via Twitter API or existing dataset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2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Data Preprocessing — tokenization, stop-word removal, stemming/lemmatization, hashtag/mention/emoji/URL handling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3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Feature Extraction — Bag-of-Words, TF-IDF, and word embeddings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4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Model Building — train traditional ML (Naive Bayes, SVM, Logistic Regression) and deep learning (LSTM, BERT) models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5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Evaluation — compare models on accuracy, precision, recall, and F1-score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300" dirty="0"/>
                        <a:t>Phase 6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Result Visualization — pie charts, bar graphs, sentiment trend lines, and word clouds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962</Words>
  <Application>Microsoft Office PowerPoint</Application>
  <PresentationFormat>Widescreen</PresentationFormat>
  <Paragraphs>101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akshitha reddy</cp:lastModifiedBy>
  <cp:revision>34</cp:revision>
  <dcterms:created xsi:type="dcterms:W3CDTF">2026-08-08T06:33:56Z</dcterms:created>
  <dcterms:modified xsi:type="dcterms:W3CDTF">2026-09-16T04:39:10Z</dcterms:modified>
</cp:coreProperties>
</file>